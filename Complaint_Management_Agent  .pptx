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Introduce the project and the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00B8D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00B8D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1097280"/>
            <a:ext cx="5029200" cy="5029200"/>
          </a:xfrm>
          <a:prstGeom prst="ellipse">
            <a:avLst/>
          </a:prstGeom>
          <a:solidFill>
            <a:srgbClr val="1565C0">
              <a:alpha val="35000"/>
            </a:srgbClr>
          </a:solidFill>
          <a:ln w="12700">
            <a:solidFill>
              <a:srgbClr val="1565C0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0" y="2011680"/>
            <a:ext cx="4114800" cy="4114800"/>
          </a:xfrm>
          <a:prstGeom prst="ellipse">
            <a:avLst/>
          </a:prstGeom>
          <a:solidFill>
            <a:srgbClr val="00B8D4">
              <a:alpha val="15000"/>
            </a:srgbClr>
          </a:solidFill>
          <a:ln w="12700">
            <a:solidFill>
              <a:srgbClr val="00B8D4">
                <a:alpha val="1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CUSTOMER SUPPORT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COMPLAINT MANAGEMENT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RESOLUTION AGENT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86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3E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Customer Complaint Handling System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4754880" cy="1554480"/>
          </a:xfrm>
          <a:prstGeom prst="roundRect">
            <a:avLst>
              <a:gd name="adj" fmla="val 7059"/>
            </a:avLst>
          </a:prstGeom>
          <a:solidFill>
            <a:srgbClr val="0F3A7A"/>
          </a:solidFill>
          <a:ln w="12700">
            <a:solidFill>
              <a:srgbClr val="2A5D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9718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and Engineering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33756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B3E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Yaminipriya.Ambati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B3E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Hema.ch, Tejaswini.B, Harika.B, Kusuma.ch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0" y="822960"/>
            <a:ext cx="2651760" cy="3566160"/>
          </a:xfrm>
          <a:prstGeom prst="roundRect">
            <a:avLst>
              <a:gd name="adj" fmla="val 6897"/>
            </a:avLst>
          </a:prstGeom>
          <a:solidFill>
            <a:srgbClr val="0F3A7A"/>
          </a:solidFill>
          <a:ln w="12700">
            <a:solidFill>
              <a:srgbClr val="00B8D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903720" y="1005840"/>
            <a:ext cx="731520" cy="731520"/>
          </a:xfrm>
          <a:prstGeom prst="ellipse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188720"/>
            <a:ext cx="365760" cy="36576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035040" y="1783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Support Agent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26480" y="2194560"/>
            <a:ext cx="1828800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17920" y="2194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not received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583680" y="2743200"/>
            <a:ext cx="1828800" cy="457200"/>
          </a:xfrm>
          <a:prstGeom prst="roundRect">
            <a:avLst>
              <a:gd name="adj" fmla="val 3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675120" y="2743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your order...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26480" y="3291840"/>
            <a:ext cx="1828800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17920" y="3291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172200" y="3886200"/>
            <a:ext cx="365760" cy="365760"/>
          </a:xfrm>
          <a:prstGeom prst="ellipse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3977640"/>
            <a:ext cx="182880" cy="18288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6629400" y="3886200"/>
            <a:ext cx="365760" cy="365760"/>
          </a:xfrm>
          <a:prstGeom prst="ellipse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3977640"/>
            <a:ext cx="182880" cy="18288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7086600" y="3886200"/>
            <a:ext cx="365760" cy="365760"/>
          </a:xfrm>
          <a:prstGeom prst="ellipse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3977640"/>
            <a:ext cx="18288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complaints are central to every business. Manual handling becomes slow as volume grows.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830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AI agent understands complaints, classifies them, decides the next action and responds.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606040"/>
            <a:ext cx="365760" cy="3657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97480"/>
            <a:ext cx="182880" cy="1828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26060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customer complaints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3063240"/>
            <a:ext cx="365760" cy="3657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154680"/>
            <a:ext cx="182880" cy="1828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60120" y="3063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complaint type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57200" y="3520440"/>
            <a:ext cx="365760" cy="3657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11880"/>
            <a:ext cx="182880" cy="1828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60120" y="3520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complaints automatically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457200" y="3977640"/>
            <a:ext cx="365760" cy="3657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069080"/>
            <a:ext cx="182880" cy="18288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0120" y="39776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suitable responses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457200" y="4434840"/>
            <a:ext cx="365760" cy="3657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526280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60120" y="44348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complaint status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5577840" y="1051560"/>
            <a:ext cx="3108960" cy="3520440"/>
          </a:xfrm>
          <a:prstGeom prst="roundRect">
            <a:avLst>
              <a:gd name="adj" fmla="val 5882"/>
            </a:avLst>
          </a:prstGeom>
          <a:solidFill>
            <a:srgbClr val="0A2A5E"/>
          </a:solidFill>
          <a:ln w="12700">
            <a:solidFill>
              <a:srgbClr val="0A2A5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6126480" y="1805940"/>
            <a:ext cx="2011680" cy="2011680"/>
          </a:xfrm>
          <a:prstGeom prst="ellipse">
            <a:avLst/>
          </a:prstGeom>
          <a:solidFill>
            <a:srgbClr val="1565C0">
              <a:alpha val="60000"/>
            </a:srgbClr>
          </a:solidFill>
          <a:ln w="19050">
            <a:solidFill>
              <a:srgbClr val="00B8D4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6492240" y="2171700"/>
            <a:ext cx="1280160" cy="1280160"/>
          </a:xfrm>
          <a:prstGeom prst="ellipse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2280" y="2491740"/>
            <a:ext cx="640080" cy="640080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5623560" y="1760220"/>
            <a:ext cx="502920" cy="502920"/>
          </a:xfrm>
          <a:prstGeom prst="ellipse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9290" y="1885950"/>
            <a:ext cx="251460" cy="251460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8183880" y="1760220"/>
            <a:ext cx="502920" cy="502920"/>
          </a:xfrm>
          <a:prstGeom prst="ellipse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9610" y="1885950"/>
            <a:ext cx="251460" cy="251460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5623560" y="3406140"/>
            <a:ext cx="502920" cy="502920"/>
          </a:xfrm>
          <a:prstGeom prst="ellipse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49290" y="3531870"/>
            <a:ext cx="251460" cy="251460"/>
          </a:xfrm>
          <a:prstGeom prst="rect">
            <a:avLst/>
          </a:prstGeom>
        </p:spPr>
      </p:pic>
      <p:sp>
        <p:nvSpPr>
          <p:cNvPr id="30" name="Shape 19"/>
          <p:cNvSpPr/>
          <p:nvPr/>
        </p:nvSpPr>
        <p:spPr>
          <a:xfrm>
            <a:off x="8183880" y="3406140"/>
            <a:ext cx="502920" cy="502920"/>
          </a:xfrm>
          <a:prstGeom prst="ellipse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09610" y="3531870"/>
            <a:ext cx="251460" cy="2514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565C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receive many customer complaints every day.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6032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B3E5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63624"/>
            <a:ext cx="475488" cy="47548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682496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15568" y="1463040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complaint processing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154680" y="1463040"/>
            <a:ext cx="256032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B3E5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46120" y="1563624"/>
            <a:ext cx="475488" cy="47548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1682496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813048" y="1463040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responses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" y="2249424"/>
            <a:ext cx="256032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B3E5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48640" y="2350008"/>
            <a:ext cx="475488" cy="47548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468880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115568" y="2249424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classification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3154680" y="2249424"/>
            <a:ext cx="256032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B3E5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3246120" y="2350008"/>
            <a:ext cx="475488" cy="47548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2468880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3813048" y="2249424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track status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57200" y="3035808"/>
            <a:ext cx="256032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B3E5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548640" y="3136392"/>
            <a:ext cx="475488" cy="47548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3255264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115568" y="3035808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customer queries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3154680" y="3035808"/>
            <a:ext cx="256032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B3E5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3246120" y="3136392"/>
            <a:ext cx="475488" cy="47548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4992" y="3255264"/>
            <a:ext cx="237744" cy="23774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3813048" y="3035808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errors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457200" y="3822192"/>
            <a:ext cx="256032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B3E5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548640" y="3922776"/>
            <a:ext cx="475488" cy="47548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" y="4041648"/>
            <a:ext cx="237744" cy="237744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1115568" y="3822192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complaint volumes</a:t>
            </a:r>
            <a:endParaRPr lang="en-US" sz="1200" dirty="0"/>
          </a:p>
        </p:txBody>
      </p:sp>
      <p:sp>
        <p:nvSpPr>
          <p:cNvPr id="32" name="Shape 23"/>
          <p:cNvSpPr/>
          <p:nvPr/>
        </p:nvSpPr>
        <p:spPr>
          <a:xfrm>
            <a:off x="6080760" y="1463040"/>
            <a:ext cx="2606040" cy="3017520"/>
          </a:xfrm>
          <a:prstGeom prst="roundRect">
            <a:avLst>
              <a:gd name="adj" fmla="val 5263"/>
            </a:avLst>
          </a:prstGeom>
          <a:solidFill>
            <a:srgbClr val="0A2A5E"/>
          </a:solidFill>
          <a:ln w="12700">
            <a:solidFill>
              <a:srgbClr val="0A2A5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6995160" y="1691640"/>
            <a:ext cx="777240" cy="777240"/>
          </a:xfrm>
          <a:prstGeom prst="ellipse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89470" y="1885950"/>
            <a:ext cx="388620" cy="388620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6263640" y="26060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QUESTION</a:t>
            </a:r>
            <a:endParaRPr lang="en-US" sz="1100" dirty="0"/>
          </a:p>
        </p:txBody>
      </p:sp>
      <p:sp>
        <p:nvSpPr>
          <p:cNvPr id="36" name="Text 26"/>
          <p:cNvSpPr txBox="1"/>
          <p:nvPr/>
        </p:nvSpPr>
        <p:spPr>
          <a:xfrm>
            <a:off x="6263640" y="292608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can AI make customer complaint handling faster, smarter and more organized?"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565C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Complaint Management System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60120" y="1005840"/>
            <a:ext cx="16002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B3E5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69848" y="1115568"/>
            <a:ext cx="457200" cy="457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4148" y="1229868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148840" y="107899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162763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560320" y="1440180"/>
            <a:ext cx="274320" cy="0"/>
          </a:xfrm>
          <a:prstGeom prst="line">
            <a:avLst/>
          </a:prstGeom>
          <a:noFill/>
          <a:ln w="28575">
            <a:solidFill>
              <a:srgbClr val="00B8D4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834640" y="1005840"/>
            <a:ext cx="16002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B3E5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944368" y="1115568"/>
            <a:ext cx="457200" cy="457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8668" y="1229868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023360" y="107899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2926080" y="162763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434840" y="1440180"/>
            <a:ext cx="274320" cy="0"/>
          </a:xfrm>
          <a:prstGeom prst="line">
            <a:avLst/>
          </a:prstGeom>
          <a:noFill/>
          <a:ln w="28575">
            <a:solidFill>
              <a:srgbClr val="00B8D4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4709160" y="1005840"/>
            <a:ext cx="16002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B3E5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818888" y="1115568"/>
            <a:ext cx="457200" cy="457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3188" y="1229868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897880" y="107899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4800600" y="162763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Registration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309360" y="1440180"/>
            <a:ext cx="274320" cy="0"/>
          </a:xfrm>
          <a:prstGeom prst="line">
            <a:avLst/>
          </a:prstGeom>
          <a:noFill/>
          <a:ln w="28575">
            <a:solidFill>
              <a:srgbClr val="00B8D4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6583680" y="1005840"/>
            <a:ext cx="16002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B3E5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693408" y="1115568"/>
            <a:ext cx="457200" cy="457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7708" y="1229868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772400" y="107899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6675120" y="162763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Classification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7383780" y="1874520"/>
            <a:ext cx="0" cy="502920"/>
          </a:xfrm>
          <a:prstGeom prst="line">
            <a:avLst/>
          </a:prstGeom>
          <a:noFill/>
          <a:ln w="28575">
            <a:solidFill>
              <a:srgbClr val="00B8D4"/>
            </a:solidFill>
            <a:prstDash val="solid"/>
            <a:tailEnd type="triangle"/>
          </a:ln>
        </p:spPr>
      </p:sp>
      <p:sp>
        <p:nvSpPr>
          <p:cNvPr id="27" name="Shape 21"/>
          <p:cNvSpPr/>
          <p:nvPr/>
        </p:nvSpPr>
        <p:spPr>
          <a:xfrm>
            <a:off x="6583680" y="2377440"/>
            <a:ext cx="16002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B3E5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693408" y="2487168"/>
            <a:ext cx="457200" cy="457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7708" y="2601468"/>
            <a:ext cx="228600" cy="22860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772400" y="245059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6675120" y="299923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Assignment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 flipH="1">
            <a:off x="6309360" y="2811780"/>
            <a:ext cx="274320" cy="0"/>
          </a:xfrm>
          <a:prstGeom prst="line">
            <a:avLst/>
          </a:prstGeom>
          <a:noFill/>
          <a:ln w="28575">
            <a:solidFill>
              <a:srgbClr val="00B8D4"/>
            </a:solidFill>
            <a:prstDash val="solid"/>
            <a:tailEnd type="triangle"/>
          </a:ln>
        </p:spPr>
      </p:sp>
      <p:sp>
        <p:nvSpPr>
          <p:cNvPr id="33" name="Shape 26"/>
          <p:cNvSpPr/>
          <p:nvPr/>
        </p:nvSpPr>
        <p:spPr>
          <a:xfrm>
            <a:off x="4709160" y="2377440"/>
            <a:ext cx="16002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B3E5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4818888" y="2487168"/>
            <a:ext cx="457200" cy="457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3188" y="2601468"/>
            <a:ext cx="228600" cy="22860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5897880" y="245059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29"/>
          <p:cNvSpPr txBox="1"/>
          <p:nvPr/>
        </p:nvSpPr>
        <p:spPr>
          <a:xfrm>
            <a:off x="4800600" y="299923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Investigation</a:t>
            </a:r>
            <a:endParaRPr lang="en-US" sz="1200" dirty="0"/>
          </a:p>
        </p:txBody>
      </p:sp>
      <p:sp>
        <p:nvSpPr>
          <p:cNvPr id="38" name="Shape 30"/>
          <p:cNvSpPr/>
          <p:nvPr/>
        </p:nvSpPr>
        <p:spPr>
          <a:xfrm flipH="1">
            <a:off x="4434840" y="2811780"/>
            <a:ext cx="274320" cy="0"/>
          </a:xfrm>
          <a:prstGeom prst="line">
            <a:avLst/>
          </a:prstGeom>
          <a:noFill/>
          <a:ln w="28575">
            <a:solidFill>
              <a:srgbClr val="00B8D4"/>
            </a:solidFill>
            <a:prstDash val="solid"/>
            <a:tailEnd type="triangle"/>
          </a:ln>
        </p:spPr>
      </p:sp>
      <p:sp>
        <p:nvSpPr>
          <p:cNvPr id="39" name="Shape 31"/>
          <p:cNvSpPr/>
          <p:nvPr/>
        </p:nvSpPr>
        <p:spPr>
          <a:xfrm>
            <a:off x="2834640" y="2377440"/>
            <a:ext cx="16002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B3E5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2944368" y="2487168"/>
            <a:ext cx="457200" cy="457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58668" y="2601468"/>
            <a:ext cx="228600" cy="228600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4023360" y="245059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3" name="Text 34"/>
          <p:cNvSpPr txBox="1"/>
          <p:nvPr/>
        </p:nvSpPr>
        <p:spPr>
          <a:xfrm>
            <a:off x="2926080" y="299923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200" dirty="0"/>
          </a:p>
        </p:txBody>
      </p:sp>
      <p:sp>
        <p:nvSpPr>
          <p:cNvPr id="44" name="Shape 35"/>
          <p:cNvSpPr/>
          <p:nvPr/>
        </p:nvSpPr>
        <p:spPr>
          <a:xfrm flipH="1">
            <a:off x="2560320" y="2811780"/>
            <a:ext cx="274320" cy="0"/>
          </a:xfrm>
          <a:prstGeom prst="line">
            <a:avLst/>
          </a:prstGeom>
          <a:noFill/>
          <a:ln w="28575">
            <a:solidFill>
              <a:srgbClr val="00B8D4"/>
            </a:solidFill>
            <a:prstDash val="solid"/>
            <a:tailEnd type="triangle"/>
          </a:ln>
        </p:spPr>
      </p:sp>
      <p:sp>
        <p:nvSpPr>
          <p:cNvPr id="45" name="Shape 36"/>
          <p:cNvSpPr/>
          <p:nvPr/>
        </p:nvSpPr>
        <p:spPr>
          <a:xfrm>
            <a:off x="960120" y="2377440"/>
            <a:ext cx="16002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B3E5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46" name="Shape 37"/>
          <p:cNvSpPr/>
          <p:nvPr/>
        </p:nvSpPr>
        <p:spPr>
          <a:xfrm>
            <a:off x="1069848" y="2487168"/>
            <a:ext cx="457200" cy="457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4148" y="2601468"/>
            <a:ext cx="228600" cy="228600"/>
          </a:xfrm>
          <a:prstGeom prst="rect">
            <a:avLst/>
          </a:prstGeom>
        </p:spPr>
      </p:pic>
      <p:sp>
        <p:nvSpPr>
          <p:cNvPr id="48" name="Text 38"/>
          <p:cNvSpPr txBox="1"/>
          <p:nvPr/>
        </p:nvSpPr>
        <p:spPr>
          <a:xfrm>
            <a:off x="2148840" y="245059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9" name="Text 39"/>
          <p:cNvSpPr txBox="1"/>
          <p:nvPr/>
        </p:nvSpPr>
        <p:spPr>
          <a:xfrm>
            <a:off x="1051560" y="299923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Response</a:t>
            </a:r>
            <a:endParaRPr lang="en-US" sz="1200" dirty="0"/>
          </a:p>
        </p:txBody>
      </p:sp>
      <p:sp>
        <p:nvSpPr>
          <p:cNvPr id="50" name="Text 40"/>
          <p:cNvSpPr txBox="1"/>
          <p:nvPr/>
        </p:nvSpPr>
        <p:spPr>
          <a:xfrm>
            <a:off x="457200" y="40233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</a:t>
            </a:r>
            <a:endParaRPr lang="en-US" sz="1300" dirty="0"/>
          </a:p>
        </p:txBody>
      </p:sp>
      <p:sp>
        <p:nvSpPr>
          <p:cNvPr id="51" name="Shape 41"/>
          <p:cNvSpPr/>
          <p:nvPr/>
        </p:nvSpPr>
        <p:spPr>
          <a:xfrm>
            <a:off x="1600200" y="4041648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E0F7FA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52" name="Text 42"/>
          <p:cNvSpPr txBox="1"/>
          <p:nvPr/>
        </p:nvSpPr>
        <p:spPr>
          <a:xfrm>
            <a:off x="1600200" y="404164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</a:t>
            </a:r>
            <a:endParaRPr lang="en-US" sz="1050" dirty="0"/>
          </a:p>
        </p:txBody>
      </p:sp>
      <p:sp>
        <p:nvSpPr>
          <p:cNvPr id="53" name="Shape 43"/>
          <p:cNvSpPr/>
          <p:nvPr/>
        </p:nvSpPr>
        <p:spPr>
          <a:xfrm>
            <a:off x="3017520" y="4041648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E0F7FA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54" name="Text 44"/>
          <p:cNvSpPr txBox="1"/>
          <p:nvPr/>
        </p:nvSpPr>
        <p:spPr>
          <a:xfrm>
            <a:off x="3017520" y="404164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manual work</a:t>
            </a:r>
            <a:endParaRPr lang="en-US" sz="1050" dirty="0"/>
          </a:p>
        </p:txBody>
      </p:sp>
      <p:sp>
        <p:nvSpPr>
          <p:cNvPr id="55" name="Shape 45"/>
          <p:cNvSpPr/>
          <p:nvPr/>
        </p:nvSpPr>
        <p:spPr>
          <a:xfrm>
            <a:off x="4434840" y="4041648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E0F7FA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56" name="Text 46"/>
          <p:cNvSpPr txBox="1"/>
          <p:nvPr/>
        </p:nvSpPr>
        <p:spPr>
          <a:xfrm>
            <a:off x="4434840" y="404164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response</a:t>
            </a:r>
            <a:endParaRPr lang="en-US" sz="1050" dirty="0"/>
          </a:p>
        </p:txBody>
      </p:sp>
      <p:sp>
        <p:nvSpPr>
          <p:cNvPr id="57" name="Shape 47"/>
          <p:cNvSpPr/>
          <p:nvPr/>
        </p:nvSpPr>
        <p:spPr>
          <a:xfrm>
            <a:off x="5852160" y="4041648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E0F7FA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58" name="Text 48"/>
          <p:cNvSpPr txBox="1"/>
          <p:nvPr/>
        </p:nvSpPr>
        <p:spPr>
          <a:xfrm>
            <a:off x="5852160" y="404164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errors</a:t>
            </a:r>
            <a:endParaRPr lang="en-US" sz="1050" dirty="0"/>
          </a:p>
        </p:txBody>
      </p:sp>
      <p:sp>
        <p:nvSpPr>
          <p:cNvPr id="59" name="Shape 49"/>
          <p:cNvSpPr/>
          <p:nvPr/>
        </p:nvSpPr>
        <p:spPr>
          <a:xfrm>
            <a:off x="7269480" y="4041648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E0F7FA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60" name="Text 50"/>
          <p:cNvSpPr txBox="1"/>
          <p:nvPr/>
        </p:nvSpPr>
        <p:spPr>
          <a:xfrm>
            <a:off x="7269480" y="404164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scale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565C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383280" y="1417320"/>
            <a:ext cx="2377440" cy="2377440"/>
          </a:xfrm>
          <a:prstGeom prst="ellipse">
            <a:avLst/>
          </a:prstGeom>
          <a:solidFill>
            <a:srgbClr val="0A2A5E"/>
          </a:solidFill>
          <a:ln w="38100">
            <a:solidFill>
              <a:srgbClr val="00B8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9080" y="1645920"/>
            <a:ext cx="1005840" cy="1005840"/>
          </a:xfrm>
          <a:prstGeom prst="ellipse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0540" y="18973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383280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3383280" y="3108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3E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Management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1005840"/>
            <a:ext cx="25603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B3E5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1088136"/>
            <a:ext cx="457200" cy="457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" y="1202436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97280" y="100584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complaints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017520" y="1316736"/>
            <a:ext cx="411480" cy="1014984"/>
          </a:xfrm>
          <a:prstGeom prst="line">
            <a:avLst/>
          </a:prstGeom>
          <a:noFill/>
          <a:ln w="28575">
            <a:solidFill>
              <a:srgbClr val="00B8D4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457200" y="1764792"/>
            <a:ext cx="25603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B3E5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48640" y="1847088"/>
            <a:ext cx="457200" cy="457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1961388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097280" y="1764792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language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3017520" y="2075688"/>
            <a:ext cx="411480" cy="445770"/>
          </a:xfrm>
          <a:prstGeom prst="line">
            <a:avLst/>
          </a:prstGeom>
          <a:noFill/>
          <a:ln w="28575">
            <a:solidFill>
              <a:srgbClr val="00B8D4"/>
            </a:solidFill>
            <a:prstDash val="solid"/>
            <a:tailEnd type="triangle"/>
          </a:ln>
        </p:spPr>
      </p:sp>
      <p:sp>
        <p:nvSpPr>
          <p:cNvPr id="18" name="Shape 13"/>
          <p:cNvSpPr/>
          <p:nvPr/>
        </p:nvSpPr>
        <p:spPr>
          <a:xfrm>
            <a:off x="457200" y="2523744"/>
            <a:ext cx="25603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B3E5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48640" y="2606040"/>
            <a:ext cx="457200" cy="457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" y="272034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097280" y="2523744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complaints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 flipV="1">
            <a:off x="3017520" y="2711196"/>
            <a:ext cx="411480" cy="123444"/>
          </a:xfrm>
          <a:prstGeom prst="line">
            <a:avLst/>
          </a:prstGeom>
          <a:noFill/>
          <a:ln w="28575">
            <a:solidFill>
              <a:srgbClr val="00B8D4"/>
            </a:solidFill>
            <a:prstDash val="solid"/>
            <a:tailEnd type="triangle"/>
          </a:ln>
        </p:spPr>
      </p:sp>
      <p:sp>
        <p:nvSpPr>
          <p:cNvPr id="23" name="Shape 17"/>
          <p:cNvSpPr/>
          <p:nvPr/>
        </p:nvSpPr>
        <p:spPr>
          <a:xfrm>
            <a:off x="457200" y="3282696"/>
            <a:ext cx="25603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B3E5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548640" y="3364992"/>
            <a:ext cx="457200" cy="457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" y="3479292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097280" y="3282696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state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 flipV="1">
            <a:off x="3017520" y="2900934"/>
            <a:ext cx="411480" cy="692658"/>
          </a:xfrm>
          <a:prstGeom prst="line">
            <a:avLst/>
          </a:prstGeom>
          <a:noFill/>
          <a:ln w="28575">
            <a:solidFill>
              <a:srgbClr val="00B8D4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6126480" y="1005840"/>
            <a:ext cx="25603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B3E5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138160" y="1088136"/>
            <a:ext cx="457200" cy="457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2460" y="1202436"/>
            <a:ext cx="228600" cy="2286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263640" y="100584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external tools</a:t>
            </a:r>
            <a:endParaRPr lang="en-US" sz="1200" dirty="0"/>
          </a:p>
        </p:txBody>
      </p:sp>
      <p:sp>
        <p:nvSpPr>
          <p:cNvPr id="32" name="Shape 24"/>
          <p:cNvSpPr/>
          <p:nvPr/>
        </p:nvSpPr>
        <p:spPr>
          <a:xfrm flipH="1">
            <a:off x="5715000" y="1316736"/>
            <a:ext cx="411480" cy="1014984"/>
          </a:xfrm>
          <a:prstGeom prst="line">
            <a:avLst/>
          </a:prstGeom>
          <a:noFill/>
          <a:ln w="28575">
            <a:solidFill>
              <a:srgbClr val="00B8D4"/>
            </a:solidFill>
            <a:prstDash val="solid"/>
            <a:tailEnd type="triangle"/>
          </a:ln>
        </p:spPr>
      </p:sp>
      <p:sp>
        <p:nvSpPr>
          <p:cNvPr id="33" name="Shape 25"/>
          <p:cNvSpPr/>
          <p:nvPr/>
        </p:nvSpPr>
        <p:spPr>
          <a:xfrm>
            <a:off x="6126480" y="1764792"/>
            <a:ext cx="25603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B3E5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8138160" y="1847088"/>
            <a:ext cx="457200" cy="457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2460" y="1961388"/>
            <a:ext cx="228600" cy="22860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6263640" y="1764792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next action</a:t>
            </a:r>
            <a:endParaRPr lang="en-US" sz="1200" dirty="0"/>
          </a:p>
        </p:txBody>
      </p:sp>
      <p:sp>
        <p:nvSpPr>
          <p:cNvPr id="37" name="Shape 28"/>
          <p:cNvSpPr/>
          <p:nvPr/>
        </p:nvSpPr>
        <p:spPr>
          <a:xfrm flipH="1">
            <a:off x="5715000" y="2075688"/>
            <a:ext cx="411480" cy="445770"/>
          </a:xfrm>
          <a:prstGeom prst="line">
            <a:avLst/>
          </a:prstGeom>
          <a:noFill/>
          <a:ln w="28575">
            <a:solidFill>
              <a:srgbClr val="00B8D4"/>
            </a:solidFill>
            <a:prstDash val="solid"/>
            <a:tailEnd type="triangle"/>
          </a:ln>
        </p:spPr>
      </p:sp>
      <p:sp>
        <p:nvSpPr>
          <p:cNvPr id="38" name="Shape 29"/>
          <p:cNvSpPr/>
          <p:nvPr/>
        </p:nvSpPr>
        <p:spPr>
          <a:xfrm>
            <a:off x="6126480" y="2523744"/>
            <a:ext cx="25603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B3E5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9" name="Shape 30"/>
          <p:cNvSpPr/>
          <p:nvPr/>
        </p:nvSpPr>
        <p:spPr>
          <a:xfrm>
            <a:off x="8138160" y="2606040"/>
            <a:ext cx="457200" cy="457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52460" y="2720340"/>
            <a:ext cx="228600" cy="228600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6263640" y="2523744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or escalate</a:t>
            </a:r>
            <a:endParaRPr lang="en-US" sz="1200" dirty="0"/>
          </a:p>
        </p:txBody>
      </p:sp>
      <p:sp>
        <p:nvSpPr>
          <p:cNvPr id="42" name="Shape 32"/>
          <p:cNvSpPr/>
          <p:nvPr/>
        </p:nvSpPr>
        <p:spPr>
          <a:xfrm flipH="1" flipV="1">
            <a:off x="5715000" y="2711196"/>
            <a:ext cx="411480" cy="123444"/>
          </a:xfrm>
          <a:prstGeom prst="line">
            <a:avLst/>
          </a:prstGeom>
          <a:noFill/>
          <a:ln w="28575">
            <a:solidFill>
              <a:srgbClr val="00B8D4"/>
            </a:solidFill>
            <a:prstDash val="solid"/>
            <a:tailEnd type="triangle"/>
          </a:ln>
        </p:spPr>
      </p:sp>
      <p:sp>
        <p:nvSpPr>
          <p:cNvPr id="43" name="Shape 33"/>
          <p:cNvSpPr/>
          <p:nvPr/>
        </p:nvSpPr>
        <p:spPr>
          <a:xfrm>
            <a:off x="6126480" y="3282696"/>
            <a:ext cx="25603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B3E5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44" name="Shape 34"/>
          <p:cNvSpPr/>
          <p:nvPr/>
        </p:nvSpPr>
        <p:spPr>
          <a:xfrm>
            <a:off x="8138160" y="3364992"/>
            <a:ext cx="457200" cy="457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4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52460" y="3479292"/>
            <a:ext cx="228600" cy="228600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6263640" y="3282696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responses</a:t>
            </a:r>
            <a:endParaRPr lang="en-US" sz="1200" dirty="0"/>
          </a:p>
        </p:txBody>
      </p:sp>
      <p:sp>
        <p:nvSpPr>
          <p:cNvPr id="47" name="Shape 36"/>
          <p:cNvSpPr/>
          <p:nvPr/>
        </p:nvSpPr>
        <p:spPr>
          <a:xfrm flipH="1" flipV="1">
            <a:off x="5715000" y="2900934"/>
            <a:ext cx="411480" cy="692658"/>
          </a:xfrm>
          <a:prstGeom prst="line">
            <a:avLst/>
          </a:prstGeom>
          <a:noFill/>
          <a:ln w="28575">
            <a:solidFill>
              <a:srgbClr val="00B8D4"/>
            </a:solidFill>
            <a:prstDash val="solid"/>
            <a:tailEnd type="triangle"/>
          </a:ln>
        </p:spPr>
      </p:sp>
      <p:sp>
        <p:nvSpPr>
          <p:cNvPr id="48" name="Shape 37"/>
          <p:cNvSpPr/>
          <p:nvPr/>
        </p:nvSpPr>
        <p:spPr>
          <a:xfrm>
            <a:off x="914400" y="4160520"/>
            <a:ext cx="1920240" cy="502920"/>
          </a:xfrm>
          <a:prstGeom prst="chevron">
            <a:avLst/>
          </a:prstGeom>
          <a:solidFill>
            <a:srgbClr val="1565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38"/>
          <p:cNvSpPr txBox="1"/>
          <p:nvPr/>
        </p:nvSpPr>
        <p:spPr>
          <a:xfrm>
            <a:off x="1143000" y="41605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50" name="Shape 39"/>
          <p:cNvSpPr/>
          <p:nvPr/>
        </p:nvSpPr>
        <p:spPr>
          <a:xfrm>
            <a:off x="2788920" y="4160520"/>
            <a:ext cx="1920240" cy="502920"/>
          </a:xfrm>
          <a:prstGeom prst="chevron">
            <a:avLst/>
          </a:prstGeom>
          <a:solidFill>
            <a:srgbClr val="00B8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0"/>
          <p:cNvSpPr txBox="1"/>
          <p:nvPr/>
        </p:nvSpPr>
        <p:spPr>
          <a:xfrm>
            <a:off x="3017520" y="41605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200" dirty="0"/>
          </a:p>
        </p:txBody>
      </p:sp>
      <p:sp>
        <p:nvSpPr>
          <p:cNvPr id="52" name="Shape 41"/>
          <p:cNvSpPr/>
          <p:nvPr/>
        </p:nvSpPr>
        <p:spPr>
          <a:xfrm>
            <a:off x="4663440" y="4160520"/>
            <a:ext cx="1920240" cy="502920"/>
          </a:xfrm>
          <a:prstGeom prst="chevron">
            <a:avLst/>
          </a:prstGeom>
          <a:solidFill>
            <a:srgbClr val="1565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42"/>
          <p:cNvSpPr txBox="1"/>
          <p:nvPr/>
        </p:nvSpPr>
        <p:spPr>
          <a:xfrm>
            <a:off x="4892040" y="41605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200" dirty="0"/>
          </a:p>
        </p:txBody>
      </p:sp>
      <p:sp>
        <p:nvSpPr>
          <p:cNvPr id="54" name="Shape 43"/>
          <p:cNvSpPr/>
          <p:nvPr/>
        </p:nvSpPr>
        <p:spPr>
          <a:xfrm>
            <a:off x="6537960" y="4160520"/>
            <a:ext cx="1920240" cy="502920"/>
          </a:xfrm>
          <a:prstGeom prst="chevron">
            <a:avLst/>
          </a:prstGeom>
          <a:solidFill>
            <a:srgbClr val="00B8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44"/>
          <p:cNvSpPr txBox="1"/>
          <p:nvPr/>
        </p:nvSpPr>
        <p:spPr>
          <a:xfrm>
            <a:off x="6766560" y="41605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565C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Payment Complaint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Process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84048" cy="3840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4173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complaint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384048" cy="384048"/>
          </a:xfrm>
          <a:prstGeom prst="ellipse">
            <a:avLst/>
          </a:prstGeom>
          <a:solidFill>
            <a:srgbClr val="00B8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19202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it as a Payment Issue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384048" cy="3840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4231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transaction / order information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384048" cy="384048"/>
          </a:xfrm>
          <a:prstGeom prst="ellipse">
            <a:avLst/>
          </a:prstGeom>
          <a:solidFill>
            <a:srgbClr val="00B8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29260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the appropriate action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384048" cy="3840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34290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complaint status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384048" cy="384048"/>
          </a:xfrm>
          <a:prstGeom prst="ellipse">
            <a:avLst/>
          </a:prstGeom>
          <a:solidFill>
            <a:srgbClr val="00B8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39319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response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480560" y="1005840"/>
            <a:ext cx="4206240" cy="361188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B3E5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480560" y="1005840"/>
            <a:ext cx="4206240" cy="548640"/>
          </a:xfrm>
          <a:prstGeom prst="roundRect">
            <a:avLst>
              <a:gd name="adj" fmla="val 25000"/>
            </a:avLst>
          </a:prstGeom>
          <a:solidFill>
            <a:srgbClr val="0A2A5E"/>
          </a:solidFill>
          <a:ln w="12700">
            <a:solidFill>
              <a:srgbClr val="0A2A5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80560" y="1280160"/>
            <a:ext cx="4206240" cy="274320"/>
          </a:xfrm>
          <a:prstGeom prst="rect">
            <a:avLst/>
          </a:prstGeom>
          <a:solidFill>
            <a:srgbClr val="0A2A5E"/>
          </a:solidFill>
          <a:ln w="12700">
            <a:solidFill>
              <a:srgbClr val="0A2A5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17720" y="1051560"/>
            <a:ext cx="457200" cy="457200"/>
          </a:xfrm>
          <a:prstGeom prst="ellipse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2020" y="1165860"/>
            <a:ext cx="228600" cy="228600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5166360" y="1005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Support Agent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5486400" y="1737360"/>
            <a:ext cx="3017520" cy="685800"/>
          </a:xfrm>
          <a:prstGeom prst="roundRect">
            <a:avLst>
              <a:gd name="adj" fmla="val 20000"/>
            </a:avLst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623560" y="17373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"My payment was deducted but my order is not confirmed."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5486400" y="245059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663440" y="2743200"/>
            <a:ext cx="3474720" cy="365760"/>
          </a:xfrm>
          <a:prstGeom prst="roundRect">
            <a:avLst>
              <a:gd name="adj" fmla="val 25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709160" y="2743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Payment Issue  |  Status: Under Review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663440" y="3200400"/>
            <a:ext cx="3474720" cy="1097280"/>
          </a:xfrm>
          <a:prstGeom prst="roundRect">
            <a:avLst>
              <a:gd name="adj" fmla="val 125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800600" y="32004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payment issue has been identified. The transaction details are being checked. You will receive an update after verification."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565C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B3E5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156716"/>
            <a:ext cx="384048" cy="3840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" y="1252728"/>
            <a:ext cx="192024" cy="1920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87552" y="100584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2286000" y="1348740"/>
            <a:ext cx="320040" cy="0"/>
          </a:xfrm>
          <a:prstGeom prst="line">
            <a:avLst/>
          </a:prstGeom>
          <a:noFill/>
          <a:ln w="28575">
            <a:solidFill>
              <a:srgbClr val="00B8D4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2606040" y="1005840"/>
            <a:ext cx="18288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B3E5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697480" y="1156716"/>
            <a:ext cx="384048" cy="3840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3492" y="1252728"/>
            <a:ext cx="192024" cy="1920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136392" y="100584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Interface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434840" y="1348740"/>
            <a:ext cx="320040" cy="0"/>
          </a:xfrm>
          <a:prstGeom prst="line">
            <a:avLst/>
          </a:prstGeom>
          <a:noFill/>
          <a:ln w="28575">
            <a:solidFill>
              <a:srgbClr val="00B8D4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4754880" y="1005840"/>
            <a:ext cx="1828800" cy="685800"/>
          </a:xfrm>
          <a:prstGeom prst="roundRect">
            <a:avLst>
              <a:gd name="adj" fmla="val 13333"/>
            </a:avLst>
          </a:prstGeom>
          <a:solidFill>
            <a:srgbClr val="0A2A5E"/>
          </a:solidFill>
          <a:ln w="12700">
            <a:solidFill>
              <a:srgbClr val="0A2A5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846320" y="1156716"/>
            <a:ext cx="384048" cy="384048"/>
          </a:xfrm>
          <a:prstGeom prst="ellipse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2332" y="1252728"/>
            <a:ext cx="192024" cy="19202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285232" y="100584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Complaint Agent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583680" y="1348740"/>
            <a:ext cx="320040" cy="0"/>
          </a:xfrm>
          <a:prstGeom prst="line">
            <a:avLst/>
          </a:prstGeom>
          <a:noFill/>
          <a:ln w="28575">
            <a:solidFill>
              <a:srgbClr val="00B8D4"/>
            </a:solidFill>
            <a:prstDash val="solid"/>
            <a:tailEnd type="triangle"/>
          </a:ln>
        </p:spPr>
      </p:sp>
      <p:sp>
        <p:nvSpPr>
          <p:cNvPr id="18" name="Shape 13"/>
          <p:cNvSpPr/>
          <p:nvPr/>
        </p:nvSpPr>
        <p:spPr>
          <a:xfrm>
            <a:off x="6903720" y="1005840"/>
            <a:ext cx="18288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B3E5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995160" y="1156716"/>
            <a:ext cx="384048" cy="3840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1172" y="1252728"/>
            <a:ext cx="192024" cy="19202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34072" y="100584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/ AI Model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4754880" y="1691640"/>
            <a:ext cx="0" cy="274320"/>
          </a:xfrm>
          <a:prstGeom prst="line">
            <a:avLst/>
          </a:prstGeom>
          <a:noFill/>
          <a:ln w="28575">
            <a:solidFill>
              <a:srgbClr val="00B8D4"/>
            </a:solidFill>
            <a:prstDash val="solid"/>
            <a:tailEnd type="triangle"/>
          </a:ln>
        </p:spPr>
      </p:sp>
      <p:sp>
        <p:nvSpPr>
          <p:cNvPr id="23" name="Shape 17"/>
          <p:cNvSpPr/>
          <p:nvPr/>
        </p:nvSpPr>
        <p:spPr>
          <a:xfrm>
            <a:off x="457200" y="1965960"/>
            <a:ext cx="8229600" cy="1417320"/>
          </a:xfrm>
          <a:prstGeom prst="roundRect">
            <a:avLst>
              <a:gd name="adj" fmla="val 7742"/>
            </a:avLst>
          </a:prstGeom>
          <a:solidFill>
            <a:srgbClr val="E0F7FA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64008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WORKFLOW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40080" y="2331720"/>
            <a:ext cx="14173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1143000" y="2377440"/>
            <a:ext cx="411480" cy="4114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5870" y="2480310"/>
            <a:ext cx="205740" cy="20574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640080" y="280720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Mgmt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2194560" y="2331720"/>
            <a:ext cx="14173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2697480" y="2377440"/>
            <a:ext cx="411480" cy="4114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0350" y="2480310"/>
            <a:ext cx="205740" cy="20574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2194560" y="280720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3749040" y="2331720"/>
            <a:ext cx="14173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4251960" y="2377440"/>
            <a:ext cx="411480" cy="4114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54830" y="2480310"/>
            <a:ext cx="205740" cy="20574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3749040" y="280720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Making</a:t>
            </a:r>
            <a:endParaRPr lang="en-US" sz="1100" dirty="0"/>
          </a:p>
        </p:txBody>
      </p:sp>
      <p:sp>
        <p:nvSpPr>
          <p:cNvPr id="37" name="Shape 28"/>
          <p:cNvSpPr/>
          <p:nvPr/>
        </p:nvSpPr>
        <p:spPr>
          <a:xfrm>
            <a:off x="5303520" y="2331720"/>
            <a:ext cx="14173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8" name="Shape 29"/>
          <p:cNvSpPr/>
          <p:nvPr/>
        </p:nvSpPr>
        <p:spPr>
          <a:xfrm>
            <a:off x="5806440" y="2377440"/>
            <a:ext cx="411480" cy="4114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09310" y="2480310"/>
            <a:ext cx="205740" cy="205740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5303520" y="280720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</a:t>
            </a:r>
            <a:endParaRPr lang="en-US" sz="1100" dirty="0"/>
          </a:p>
        </p:txBody>
      </p:sp>
      <p:sp>
        <p:nvSpPr>
          <p:cNvPr id="41" name="Shape 31"/>
          <p:cNvSpPr/>
          <p:nvPr/>
        </p:nvSpPr>
        <p:spPr>
          <a:xfrm>
            <a:off x="6858000" y="2331720"/>
            <a:ext cx="14173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42" name="Shape 32"/>
          <p:cNvSpPr/>
          <p:nvPr/>
        </p:nvSpPr>
        <p:spPr>
          <a:xfrm>
            <a:off x="7360920" y="2377440"/>
            <a:ext cx="411480" cy="4114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63790" y="2480310"/>
            <a:ext cx="205740" cy="205740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6858000" y="280720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100" dirty="0"/>
          </a:p>
        </p:txBody>
      </p:sp>
      <p:sp>
        <p:nvSpPr>
          <p:cNvPr id="45" name="Shape 34"/>
          <p:cNvSpPr/>
          <p:nvPr/>
        </p:nvSpPr>
        <p:spPr>
          <a:xfrm>
            <a:off x="1371600" y="3383280"/>
            <a:ext cx="0" cy="320040"/>
          </a:xfrm>
          <a:prstGeom prst="line">
            <a:avLst/>
          </a:prstGeom>
          <a:noFill/>
          <a:ln w="28575">
            <a:solidFill>
              <a:srgbClr val="00B8D4"/>
            </a:solidFill>
            <a:prstDash val="solid"/>
            <a:tailEnd type="triangle"/>
          </a:ln>
        </p:spPr>
      </p:sp>
      <p:sp>
        <p:nvSpPr>
          <p:cNvPr id="46" name="Shape 35"/>
          <p:cNvSpPr/>
          <p:nvPr/>
        </p:nvSpPr>
        <p:spPr>
          <a:xfrm>
            <a:off x="457200" y="370332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3E5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47" name="Shape 36"/>
          <p:cNvSpPr/>
          <p:nvPr/>
        </p:nvSpPr>
        <p:spPr>
          <a:xfrm>
            <a:off x="548640" y="3877056"/>
            <a:ext cx="384048" cy="3840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4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652" y="3973068"/>
            <a:ext cx="192024" cy="192024"/>
          </a:xfrm>
          <a:prstGeom prst="rect">
            <a:avLst/>
          </a:prstGeom>
        </p:spPr>
      </p:pic>
      <p:sp>
        <p:nvSpPr>
          <p:cNvPr id="49" name="Text 37"/>
          <p:cNvSpPr txBox="1"/>
          <p:nvPr/>
        </p:nvSpPr>
        <p:spPr>
          <a:xfrm>
            <a:off x="987552" y="370332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/ APIs</a:t>
            </a:r>
            <a:endParaRPr lang="en-US" sz="1150" dirty="0"/>
          </a:p>
        </p:txBody>
      </p:sp>
      <p:sp>
        <p:nvSpPr>
          <p:cNvPr id="50" name="Shape 38"/>
          <p:cNvSpPr/>
          <p:nvPr/>
        </p:nvSpPr>
        <p:spPr>
          <a:xfrm>
            <a:off x="3017520" y="4069080"/>
            <a:ext cx="274320" cy="0"/>
          </a:xfrm>
          <a:prstGeom prst="line">
            <a:avLst/>
          </a:prstGeom>
          <a:noFill/>
          <a:ln w="28575">
            <a:solidFill>
              <a:srgbClr val="00B8D4"/>
            </a:solidFill>
            <a:prstDash val="solid"/>
            <a:tailEnd type="triangle"/>
          </a:ln>
        </p:spPr>
      </p:sp>
      <p:sp>
        <p:nvSpPr>
          <p:cNvPr id="51" name="Shape 39"/>
          <p:cNvSpPr/>
          <p:nvPr/>
        </p:nvSpPr>
        <p:spPr>
          <a:xfrm>
            <a:off x="3291840" y="370332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3E5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52" name="Shape 40"/>
          <p:cNvSpPr/>
          <p:nvPr/>
        </p:nvSpPr>
        <p:spPr>
          <a:xfrm>
            <a:off x="3383280" y="3877056"/>
            <a:ext cx="384048" cy="3840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5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79292" y="3973068"/>
            <a:ext cx="192024" cy="192024"/>
          </a:xfrm>
          <a:prstGeom prst="rect">
            <a:avLst/>
          </a:prstGeom>
        </p:spPr>
      </p:pic>
      <p:sp>
        <p:nvSpPr>
          <p:cNvPr id="54" name="Text 41"/>
          <p:cNvSpPr txBox="1"/>
          <p:nvPr/>
        </p:nvSpPr>
        <p:spPr>
          <a:xfrm>
            <a:off x="3822192" y="370332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/ Support Team</a:t>
            </a:r>
            <a:endParaRPr lang="en-US" sz="1150" dirty="0"/>
          </a:p>
        </p:txBody>
      </p:sp>
      <p:sp>
        <p:nvSpPr>
          <p:cNvPr id="55" name="Shape 42"/>
          <p:cNvSpPr/>
          <p:nvPr/>
        </p:nvSpPr>
        <p:spPr>
          <a:xfrm>
            <a:off x="5852160" y="4069080"/>
            <a:ext cx="274320" cy="0"/>
          </a:xfrm>
          <a:prstGeom prst="line">
            <a:avLst/>
          </a:prstGeom>
          <a:noFill/>
          <a:ln w="28575">
            <a:solidFill>
              <a:srgbClr val="00B8D4"/>
            </a:solidFill>
            <a:prstDash val="solid"/>
            <a:tailEnd type="triangle"/>
          </a:ln>
        </p:spPr>
      </p:sp>
      <p:sp>
        <p:nvSpPr>
          <p:cNvPr id="56" name="Shape 43"/>
          <p:cNvSpPr/>
          <p:nvPr/>
        </p:nvSpPr>
        <p:spPr>
          <a:xfrm>
            <a:off x="6126480" y="370332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3E5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57" name="Shape 44"/>
          <p:cNvSpPr/>
          <p:nvPr/>
        </p:nvSpPr>
        <p:spPr>
          <a:xfrm>
            <a:off x="6217920" y="3877056"/>
            <a:ext cx="384048" cy="38404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5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13932" y="3973068"/>
            <a:ext cx="192024" cy="192024"/>
          </a:xfrm>
          <a:prstGeom prst="rect">
            <a:avLst/>
          </a:prstGeom>
        </p:spPr>
      </p:pic>
      <p:sp>
        <p:nvSpPr>
          <p:cNvPr id="59" name="Text 45"/>
          <p:cNvSpPr txBox="1"/>
          <p:nvPr/>
        </p:nvSpPr>
        <p:spPr>
          <a:xfrm>
            <a:off x="6656832" y="370332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Response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565C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Technologies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554480" cy="30175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B3E5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645920"/>
            <a:ext cx="640080" cy="6400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18059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788920"/>
            <a:ext cx="1325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/ React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121408" y="1463040"/>
            <a:ext cx="1554480" cy="30175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B3E5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578608" y="1645920"/>
            <a:ext cx="640080" cy="6400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8628" y="180594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121408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258568" y="2788920"/>
            <a:ext cx="1325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/ Flask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785616" y="1463040"/>
            <a:ext cx="1554480" cy="30175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B3E5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242816" y="1645920"/>
            <a:ext cx="640080" cy="6400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2836" y="180594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785616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3922776" y="2788920"/>
            <a:ext cx="1325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Workflow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49824" y="1463040"/>
            <a:ext cx="1554480" cy="30175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B3E5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907024" y="1645920"/>
            <a:ext cx="640080" cy="6400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7044" y="180594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449824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5586984" y="2788920"/>
            <a:ext cx="1325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7114032" y="1463040"/>
            <a:ext cx="1554480" cy="30175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B3E5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571232" y="1645920"/>
            <a:ext cx="640080" cy="6400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1252" y="180594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114032" y="2377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7251192" y="2788920"/>
            <a:ext cx="1325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Tools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565C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of the System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9659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B3E5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3000" y="1280160"/>
            <a:ext cx="594360" cy="5943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1590" y="142875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9659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Complaint Processing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2578608" y="1097280"/>
            <a:ext cx="19659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B3E5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64408" y="1280160"/>
            <a:ext cx="594360" cy="594360"/>
          </a:xfrm>
          <a:prstGeom prst="ellipse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2998" y="1428750"/>
            <a:ext cx="297180" cy="2971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670048" y="19659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Complaint Handling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700016" y="1097280"/>
            <a:ext cx="19659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B3E5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385816" y="1280160"/>
            <a:ext cx="594360" cy="5943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4406" y="1428750"/>
            <a:ext cx="297180" cy="2971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791456" y="19659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Classification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821424" y="1097280"/>
            <a:ext cx="19659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B3E5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507224" y="1280160"/>
            <a:ext cx="594360" cy="594360"/>
          </a:xfrm>
          <a:prstGeom prst="ellipse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5814" y="1428750"/>
            <a:ext cx="297180" cy="2971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912864" y="19659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Complaint Tracking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457200" y="2926080"/>
            <a:ext cx="19659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B3E5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1143000" y="3108960"/>
            <a:ext cx="594360" cy="5943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1590" y="3257550"/>
            <a:ext cx="297180" cy="29718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48640" y="37947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Manual Errors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2578608" y="2926080"/>
            <a:ext cx="19659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B3E5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3264408" y="3108960"/>
            <a:ext cx="594360" cy="594360"/>
          </a:xfrm>
          <a:prstGeom prst="ellipse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2998" y="3257550"/>
            <a:ext cx="297180" cy="29718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2670048" y="37947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Customer Responses</a:t>
            </a:r>
            <a:endParaRPr lang="en-US" sz="1250" dirty="0"/>
          </a:p>
        </p:txBody>
      </p:sp>
      <p:sp>
        <p:nvSpPr>
          <p:cNvPr id="27" name="Shape 19"/>
          <p:cNvSpPr/>
          <p:nvPr/>
        </p:nvSpPr>
        <p:spPr>
          <a:xfrm>
            <a:off x="4700016" y="2926080"/>
            <a:ext cx="19659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B3E5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5385816" y="3108960"/>
            <a:ext cx="594360" cy="5943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4406" y="3257550"/>
            <a:ext cx="297180" cy="29718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4791456" y="37947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Large Volumes</a:t>
            </a:r>
            <a:endParaRPr lang="en-US" sz="1250" dirty="0"/>
          </a:p>
        </p:txBody>
      </p:sp>
      <p:sp>
        <p:nvSpPr>
          <p:cNvPr id="31" name="Shape 22"/>
          <p:cNvSpPr/>
          <p:nvPr/>
        </p:nvSpPr>
        <p:spPr>
          <a:xfrm>
            <a:off x="6821424" y="2926080"/>
            <a:ext cx="19659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B3E5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2" name="Shape 23"/>
          <p:cNvSpPr/>
          <p:nvPr/>
        </p:nvSpPr>
        <p:spPr>
          <a:xfrm>
            <a:off x="7507224" y="3108960"/>
            <a:ext cx="594360" cy="594360"/>
          </a:xfrm>
          <a:prstGeom prst="ellipse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55814" y="3257550"/>
            <a:ext cx="297180" cy="297180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6912864" y="37947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Escalation to Human Support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565C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29184" cy="329184"/>
          </a:xfrm>
          <a:prstGeom prst="ellipse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905256"/>
            <a:ext cx="164592" cy="16459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14400" y="82296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Voice-based handling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234440"/>
            <a:ext cx="329184" cy="329184"/>
          </a:xfrm>
          <a:prstGeom prst="ellipse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1316736"/>
            <a:ext cx="164592" cy="16459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14400" y="123444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support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57200" y="1645920"/>
            <a:ext cx="329184" cy="329184"/>
          </a:xfrm>
          <a:prstGeom prst="ellipse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1728216"/>
            <a:ext cx="164592" cy="16459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14400" y="164592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/ chat integration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457200" y="2057400"/>
            <a:ext cx="329184" cy="329184"/>
          </a:xfrm>
          <a:prstGeom prst="ellipse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" y="2139696"/>
            <a:ext cx="164592" cy="16459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914400" y="205740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457200" y="2468880"/>
            <a:ext cx="329184" cy="329184"/>
          </a:xfrm>
          <a:prstGeom prst="ellipse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" y="2551176"/>
            <a:ext cx="164592" cy="164592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914400" y="246888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457200" y="2880360"/>
            <a:ext cx="329184" cy="329184"/>
          </a:xfrm>
          <a:prstGeom prst="ellipse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496" y="2962656"/>
            <a:ext cx="164592" cy="164592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914400" y="288036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integration</a:t>
            </a:r>
            <a:endParaRPr lang="en-US" sz="1300" dirty="0"/>
          </a:p>
        </p:txBody>
      </p:sp>
      <p:sp>
        <p:nvSpPr>
          <p:cNvPr id="21" name="Shape 13"/>
          <p:cNvSpPr/>
          <p:nvPr/>
        </p:nvSpPr>
        <p:spPr>
          <a:xfrm>
            <a:off x="457200" y="3291840"/>
            <a:ext cx="329184" cy="329184"/>
          </a:xfrm>
          <a:prstGeom prst="ellipse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496" y="3374136"/>
            <a:ext cx="164592" cy="164592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914400" y="329184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notifications</a:t>
            </a:r>
            <a:endParaRPr lang="en-US" sz="1300" dirty="0"/>
          </a:p>
        </p:txBody>
      </p:sp>
      <p:sp>
        <p:nvSpPr>
          <p:cNvPr id="24" name="Text 15"/>
          <p:cNvSpPr txBox="1"/>
          <p:nvPr/>
        </p:nvSpPr>
        <p:spPr>
          <a:xfrm>
            <a:off x="4754880" y="2743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25" name="Text 16"/>
          <p:cNvSpPr txBox="1"/>
          <p:nvPr/>
        </p:nvSpPr>
        <p:spPr>
          <a:xfrm>
            <a:off x="4754880" y="868680"/>
            <a:ext cx="3931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6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uses Agentic AI to understand customer complaints, make decisions, use required tools and provide appropriate resolutions.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6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make customer support faster, organized and more efficient.</a:t>
            </a:r>
            <a:endParaRPr lang="en-US" sz="1400" dirty="0"/>
          </a:p>
        </p:txBody>
      </p:sp>
      <p:sp>
        <p:nvSpPr>
          <p:cNvPr id="26" name="Shape 17"/>
          <p:cNvSpPr/>
          <p:nvPr/>
        </p:nvSpPr>
        <p:spPr>
          <a:xfrm>
            <a:off x="457200" y="3886200"/>
            <a:ext cx="8229600" cy="411480"/>
          </a:xfrm>
          <a:prstGeom prst="roundRect">
            <a:avLst>
              <a:gd name="adj" fmla="val 26667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18"/>
          <p:cNvSpPr txBox="1"/>
          <p:nvPr/>
        </p:nvSpPr>
        <p:spPr>
          <a:xfrm>
            <a:off x="457200" y="38862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"Understand. Decide. Act. Resolve."</a:t>
            </a:r>
            <a:endParaRPr lang="en-US" sz="1800" dirty="0"/>
          </a:p>
        </p:txBody>
      </p:sp>
      <p:sp>
        <p:nvSpPr>
          <p:cNvPr id="28" name="Text 19"/>
          <p:cNvSpPr txBox="1"/>
          <p:nvPr/>
        </p:nvSpPr>
        <p:spPr>
          <a:xfrm>
            <a:off x="457200" y="43708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spc="600" kern="0" dirty="0">
                <a:solidFill>
                  <a:srgbClr val="00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00B8D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Complaint Management &amp; Resolution Agent</dc:title>
  <dc:subject>PptxGenJS Presentation</dc:subject>
  <dc:creator>PptxGenJS</dc:creator>
  <cp:lastModifiedBy>PptxGenJS</cp:lastModifiedBy>
  <cp:revision>1</cp:revision>
  <dcterms:created xsi:type="dcterms:W3CDTF">2026-09-30T05:25:55Z</dcterms:created>
  <dcterms:modified xsi:type="dcterms:W3CDTF">2026-09-30T05:25:55Z</dcterms:modified>
</cp:coreProperties>
</file>